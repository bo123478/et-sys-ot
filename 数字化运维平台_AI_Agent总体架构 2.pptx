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&lt;File&gt;现场数字化运维最终方案_汇报版.pptx&lt;/File&gt;: 现场工作台、Microsoft 365、Databricks、Power BI 与安全边界。
- &lt;File&gt;现场数字化运维一体化方案 整合方案.pptx&lt;/File&gt;: 问题、版本、测试、数据与知识闭环。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&lt;File&gt;现场设备与系统运维数字化平台方案.pptx&lt;/File&gt;: 信息分散、定位效率低、版本风险和管理不可视。
- &lt;File&gt;现场数字化运维最终方案_汇报版.pptx&lt;/File&gt;: ET 无 M365 账号、生产软件持续运行及安全边界。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&lt;File&gt;AI Agents_CH - 副本.pptx&lt;/File&gt;: 从小处着手、优质数据、工具少而精、高风险动作审批与停止条件。
- &lt;File&gt;现场数字化运维-总结版.pptx&lt;/File&gt;: 统一主键贯通Issue、Equipment、Application、Version和Release。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&lt;File&gt;AI Agents_CH - 副本.pptx&lt;/File&gt;: Copilot Studio中的知识、工具、子智能体、活动与评估。
- &lt;File&gt;现场数字化运维一体化方案 整合方案.pptx&lt;/File&gt;: Microsoft 365、Databricks、Power BI、GitHub/Azure DevOps工具链。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&lt;File&gt;现场数字化运维一体化方案 整合方案.pptx&lt;/File&gt;: 问题协同、版本管控、测试管理、数据洞察和知识库。
- Agent职责与工具边界为本方案建议。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编排步骤与并行原则为本方案建议。
- &lt;File&gt;现场数字化运维-总结版.pptx&lt;/File&gt;: 从现场发现、自动取证、问题受理到开发修复、测试、发布、部署和数据洞察的闭环。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&lt;File&gt;现场数字化运维一体化方案 整合方案.pptx&lt;/File&gt;: 现场发现、自动取证、问题受理、开发修复、测试验证、版本发布、设备部署、数据洞察。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&lt;File&gt;现场数字化运维最终方案_汇报版.pptx&lt;/File&gt;: 两路数据汇聚到Databricks并采用Bronze/Silver/Gold治理。
- &lt;File&gt;现场数字化运维-总结版.pptx&lt;/File&gt;: 统一数据主键贯通Issue、Equipment、Application、Version和Release。
- Agent状态管理为本方案建议。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&lt;File&gt;AI Agents_CH - 副本.pptx&lt;/File&gt;: 高风险动作需要审批并设置停止条件。
- &lt;File&gt;现场数字化运维最终方案_汇报版.pptx&lt;/File&gt;: PowerShell策略、脚本签名、ACL、SMB权限及平台治理确认。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&lt;File&gt;AI Agents_CH - 副本.pptx&lt;/File&gt;: Copilot Studio、Microsoft Agent Framework、LangGraph、CrewAI等工具定位。
- &lt;File&gt;现场数字化运维一体化方案 整合方案.pptx&lt;/File&gt;: Microsoft 365、Databricks、Power BI、GitHub和Azure DevOps工具链。
- 具体组合与实施路径为本方案建议。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&lt;File&gt;现场数字化运维一体化方案 整合方案.pptx&lt;/File&gt;: 试点先行、滚动验证、分阶段建设。
- &lt;File&gt;AI Agents_CH - 副本.pptx&lt;/File&gt;: 黄金测试集用于发现回归问题。
- 四阶段路线为本方案建议。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&lt;File&gt;AI Agents_CH - 副本.pptx&lt;/File&gt;: 活动、评估、分析和黄金测试集。
- 评估指标与首期交付物为本方案建议。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E9"/>
          </a:solidFill>
          <a:ln w="12700">
            <a:solidFill>
              <a:srgbClr val="20C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B5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数字化运维平台 · AI Agent 总体架构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35440" y="219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6A8"/>
                </a:solidFill>
              </a:rPr>
              <a:t>BJ FACTORY DIGITAL O&amp;M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tmp_agentdeck/generated_image_EFDF4AD7A566_01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6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566928"/>
            <a:ext cx="5303520" cy="5440680"/>
          </a:xfrm>
          <a:prstGeom prst="rect">
            <a:avLst/>
          </a:prstGeom>
          <a:solidFill>
            <a:srgbClr val="06182E">
              <a:alpha val="90000"/>
            </a:srgbClr>
          </a:solidFill>
          <a:ln w="15240">
            <a:solidFill>
              <a:srgbClr val="20C7E9">
                <a:alpha val="7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C7E9"/>
                </a:solidFill>
              </a:rPr>
              <a:t>DIGITAL O&amp;M × AI AGENTS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4173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AFF"/>
                </a:solidFill>
              </a:rPr>
              <a:t>数字化运维平台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5FAFF"/>
                </a:solidFill>
              </a:rPr>
              <a:t>AI Agent 总体架构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896112" y="31272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BED"/>
                </a:solidFill>
              </a:rPr>
              <a:t>以总控编排为核心，连接问题、版本、测试、日志、知识与数据洞察，形成可管控、可追溯的智能运维闭环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B3CF"/>
                </a:solidFill>
              </a:rPr>
              <a:t>生产技术部｜装置管理一科｜武会波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01 / WHY AGENTS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为什么需要多智能体协同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平台已经具备数据与流程基础，下一步是让不同专业能力按任务自动协同。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93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D2E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信息分散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54203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日志、问题、版本、测试与知识分属不同系统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939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D2E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20574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定位链路长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54203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人员需要跨系统查找证据并手工拼接上下文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79476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142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D2E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977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规则与推理并存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46227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审批和发布需要确定性流程，诊断与建议需要推理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0142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D2E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78040" y="3977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风险必须受控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446227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生产变更必须保留人工审批、权限与审计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02 / DESIGN PRINCIPLES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总体设计原则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多智能体不是自由聊天，而是受控编排、专业分工和全程留痕。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103B5B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75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C7E9"/>
                </a:solidFill>
              </a:rPr>
              <a:t>1个总控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94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统一理解意图、拆解任务、路由与汇总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75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6个专业Agent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25694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每个Agent只负责清晰边界内的能力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38744" y="187452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67344" y="2075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流程优先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67344" y="25694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确定性步骤交给Power Automate/发布流水线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41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人在回路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5354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高风险动作必须审批确认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16552" y="384048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4041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统一主键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45152" y="45354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Issue / Equipment / Application / Version / Release贯通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38744" y="384048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67344" y="4041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可观测审计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67344" y="45354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记录输入、工具、输出、审批和结果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5806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D2E"/>
                </a:solidFill>
              </a:rPr>
              <a:t>核心判断：能用规则稳定完成的，不交给大模型自由决策。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03 / TARGET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目标总体架构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总控Agent负责计划、路由、上下文、策略与结果汇总，专业Agent连接各自工具和数据。</a:t>
            </a:r>
            <a:endParaRPr lang="en-US" sz="1200" dirty="0"/>
          </a:p>
        </p:txBody>
      </p:sp>
      <p:pic>
        <p:nvPicPr>
          <p:cNvPr id="5" name="Image 0" descr="/mnt/data/tmp_agentdeck/generated_image_EFDF4AD7A566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1186" y="1755648"/>
            <a:ext cx="6926580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04 / AGENT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六类专业Agent职责边界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每个Agent保持单一职责，避免一个大Agent同时掌握全部工具和权限。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783080"/>
            <a:ext cx="3611880" cy="1764792"/>
          </a:xfrm>
          <a:prstGeom prst="roundRect">
            <a:avLst>
              <a:gd name="adj" fmla="val 6218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Issue Agent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受理、分类、建单、SLA、通知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990088"/>
            <a:ext cx="3154680" cy="1"/>
          </a:xfrm>
          <a:prstGeom prst="line">
            <a:avLst/>
          </a:prstGeom>
          <a:noFill/>
          <a:ln w="12700">
            <a:solidFill>
              <a:srgbClr val="315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08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A8CC"/>
                </a:solidFill>
              </a:rPr>
              <a:t>Forms · Power Apps · SharePoint · Teams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16552" y="1783080"/>
            <a:ext cx="3611880" cy="1764792"/>
          </a:xfrm>
          <a:prstGeom prst="roundRect">
            <a:avLst>
              <a:gd name="adj" fmla="val 6218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9476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Version Agent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版本查询、Tag/Release、差异、回退建议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990088"/>
            <a:ext cx="3154680" cy="1"/>
          </a:xfrm>
          <a:prstGeom prst="line">
            <a:avLst/>
          </a:prstGeom>
          <a:noFill/>
          <a:ln w="12700">
            <a:solidFill>
              <a:srgbClr val="315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108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A8CC"/>
                </a:solidFill>
              </a:rPr>
              <a:t>GitHub · Azure DevOps · Version Registry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02752" y="1783080"/>
            <a:ext cx="3611880" cy="1764792"/>
          </a:xfrm>
          <a:prstGeom prst="roundRect">
            <a:avLst>
              <a:gd name="adj" fmla="val 6218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19476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Test Agent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03920" y="23774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用例生成、结果分析、UAT、回归建议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03920" y="2990088"/>
            <a:ext cx="3154680" cy="1"/>
          </a:xfrm>
          <a:prstGeom prst="line">
            <a:avLst/>
          </a:prstGeom>
          <a:noFill/>
          <a:ln w="12700">
            <a:solidFill>
              <a:srgbClr val="315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108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A8CC"/>
                </a:solidFill>
              </a:rPr>
              <a:t>TestCase · TestResult · UAT Record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3931920"/>
            <a:ext cx="3611880" cy="1764792"/>
          </a:xfrm>
          <a:prstGeom prst="roundRect">
            <a:avLst>
              <a:gd name="adj" fmla="val 6218"/>
            </a:avLst>
          </a:prstGeom>
          <a:solidFill>
            <a:srgbClr val="0B3952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0965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C7E9"/>
                </a:solidFill>
              </a:rPr>
              <a:t>Log Agent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日志解析、关联、异常检测、根因线索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138928"/>
            <a:ext cx="3154680" cy="1"/>
          </a:xfrm>
          <a:prstGeom prst="line">
            <a:avLst/>
          </a:prstGeom>
          <a:noFill/>
          <a:ln w="12700">
            <a:solidFill>
              <a:srgbClr val="315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57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A8CC"/>
                </a:solidFill>
              </a:rPr>
              <a:t>Log Repository · Event Log · Databricks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16552" y="3931920"/>
            <a:ext cx="3611880" cy="1764792"/>
          </a:xfrm>
          <a:prstGeom prst="roundRect">
            <a:avLst>
              <a:gd name="adj" fmla="val 6218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40965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Knowledge Agent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17720" y="45262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SOP/FAQ检索、案例匹配、答案溯源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5138928"/>
            <a:ext cx="3154680" cy="1"/>
          </a:xfrm>
          <a:prstGeom prst="line">
            <a:avLst/>
          </a:prstGeom>
          <a:noFill/>
          <a:ln w="12700">
            <a:solidFill>
              <a:srgbClr val="3155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5257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A8CC"/>
                </a:solidFill>
              </a:rPr>
              <a:t>SharePoint · OneNote · 文档库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02752" y="3931920"/>
            <a:ext cx="3611880" cy="1764792"/>
          </a:xfrm>
          <a:prstGeom prst="roundRect">
            <a:avLst>
              <a:gd name="adj" fmla="val 6218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03920" y="40965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BI Agent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503920" y="45262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DC"/>
                </a:solidFill>
              </a:rPr>
              <a:t>KPI、趋势、管理摘要、异常解释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03920" y="5138928"/>
            <a:ext cx="3154680" cy="1"/>
          </a:xfrm>
          <a:prstGeom prst="line">
            <a:avLst/>
          </a:prstGeom>
          <a:noFill/>
          <a:ln w="12700">
            <a:solidFill>
              <a:srgbClr val="3155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5257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A8CC"/>
                </a:solidFill>
              </a:rPr>
              <a:t>Gold Layer · Power BI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05 / ORCHESTRATION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协同编排机制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总控Agent按“理解 → 计划 → 调用 → 校验 → 审批 → 执行 → 复盘”闭环运行。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理解意图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56232" y="2350008"/>
            <a:ext cx="228600" cy="256032"/>
          </a:xfrm>
          <a:prstGeom prst="chevron">
            <a:avLst/>
          </a:prstGeom>
          <a:solidFill>
            <a:srgbClr val="20C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0552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任务拆解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83864" y="2350008"/>
            <a:ext cx="228600" cy="256032"/>
          </a:xfrm>
          <a:prstGeom prst="chevron">
            <a:avLst/>
          </a:prstGeom>
          <a:solidFill>
            <a:srgbClr val="20C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58184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67912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42232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Agent路由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11496" y="2350008"/>
            <a:ext cx="228600" cy="256032"/>
          </a:xfrm>
          <a:prstGeom prst="chevron">
            <a:avLst/>
          </a:prstGeom>
          <a:solidFill>
            <a:srgbClr val="20C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85816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9864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证据汇总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39128" y="2350008"/>
            <a:ext cx="228600" cy="256032"/>
          </a:xfrm>
          <a:prstGeom prst="chevron">
            <a:avLst/>
          </a:prstGeom>
          <a:solidFill>
            <a:srgbClr val="20C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3448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3176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97496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风险判断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2350008"/>
            <a:ext cx="228600" cy="256032"/>
          </a:xfrm>
          <a:prstGeom prst="chevron">
            <a:avLst/>
          </a:prstGeom>
          <a:solidFill>
            <a:srgbClr val="20C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0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503218">
              <a:alpha val="96000"/>
            </a:srgbClr>
          </a:solidFill>
          <a:ln w="12700">
            <a:solidFill>
              <a:srgbClr val="FF9D2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50808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D2E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25128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人工审批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94392" y="2350008"/>
            <a:ext cx="228600" cy="256032"/>
          </a:xfrm>
          <a:prstGeom prst="chevron">
            <a:avLst/>
          </a:prstGeom>
          <a:solidFill>
            <a:srgbClr val="20C7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68712" y="205740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7844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52760" y="2203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执行与回写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3703320"/>
            <a:ext cx="10835640" cy="1508760"/>
          </a:xfrm>
          <a:prstGeom prst="roundRect">
            <a:avLst>
              <a:gd name="adj" fmla="val 7273"/>
            </a:avLst>
          </a:prstGeom>
          <a:solidFill>
            <a:srgbClr val="09223D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" y="39502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D2E"/>
                </a:solidFill>
              </a:rPr>
              <a:t>示例：ET02 升级失败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971800" y="3822192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AFF"/>
                </a:solidFill>
              </a:rPr>
              <a:t>Issue Agent 查问题记录  →  Version Agent 查发布与Tag  →  Log Agent 分析日志  →  Knowledge Agent 匹配历史案例  →  总控Agent汇总结论  →  人工确认修复/回退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8920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并行原则：无依赖的检索并行执行；有依赖的动作按状态机顺序执行。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06 / INCIDENT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异常诊断与发布闭环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智能体提供证据和建议，确定性流水线负责测试、审批、部署与回写。</a:t>
            </a:r>
            <a:endParaRPr lang="en-US" sz="1200" dirty="0"/>
          </a:p>
        </p:txBody>
      </p:sp>
      <p:pic>
        <p:nvPicPr>
          <p:cNvPr id="5" name="Image 0" descr="/mnt/data/tmp_agentdeck/generated_image_EFDF4AD7A566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8034" y="1737360"/>
            <a:ext cx="7063740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07 / DATA &amp; MEMORY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数据、知识与记忆架构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Agent只读取授权上下文，业务事实落在平台系统，不能只保存在对话中。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38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现场数据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9293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设备健康、日志、配置、版本状态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29400" y="192938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A8CC"/>
                </a:solidFill>
              </a:rPr>
              <a:t>SMB / ET工作台 / Event 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642616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7980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业务台账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78892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Issue、设备、应用、版本、发布、测试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A8CC"/>
                </a:solidFill>
              </a:rPr>
              <a:t>SharePoint Lists / 文档库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502152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657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数据湖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364845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原始、清洗、业务数据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364845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A8CC"/>
                </a:solidFill>
              </a:rPr>
              <a:t>Databricks Bronze / Silver / Gold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361688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5171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知识层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450799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SOP、FAQ、故障案例、发布说明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450799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A8CC"/>
                </a:solidFill>
              </a:rPr>
              <a:t>SharePoint / OneNote / 文档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221224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163955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376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Agent状态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53675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任务计划、证据引用、审批状态、执行结果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53675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A8CC"/>
                </a:solidFill>
              </a:rPr>
              <a:t>会话状态 + 审计记录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D2E"/>
                </a:solidFill>
              </a:rPr>
              <a:t>统一关联键建议：IssueID · EquipmentID · ApplicationID · Version · ReleaseID · Environment · Timestamp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08 /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安全、治理与人工控制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高风险动作不允许Agent直接执行，需通过权限、策略、审批和审计四道边界。</a:t>
            </a:r>
            <a:endParaRPr lang="en-US" sz="1200" dirty="0"/>
          </a:p>
        </p:txBody>
      </p:sp>
      <p:pic>
        <p:nvPicPr>
          <p:cNvPr id="5" name="Image 0" descr="/mnt/data/tmp_agentdeck/generated_image_EFDF4AD7A566_04.png">    </p:cNvPr>
          <p:cNvPicPr>
            <a:picLocks noChangeAspect="1"/>
          </p:cNvPicPr>
          <p:nvPr/>
        </p:nvPicPr>
        <p:blipFill>
          <a:blip r:embed="rId1"/>
          <a:srcRect l="2477" r="2477" t="0" b="0"/>
          <a:stretch/>
        </p:blipFill>
        <p:spPr>
          <a:xfrm>
            <a:off x="475488" y="1764792"/>
            <a:ext cx="6492240" cy="4553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847088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数据边界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77072" y="19842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AFF"/>
                </a:solidFill>
              </a:rPr>
              <a:t>最小权限、敏感字段控制、来源引用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223760" y="2871216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30358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工具边界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77072" y="30083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AFF"/>
                </a:solidFill>
              </a:rPr>
              <a:t>工具白名单、参数校验、超时与重试限制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23760" y="3895344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4A3017">
              <a:alpha val="96000"/>
            </a:srgbClr>
          </a:solidFill>
          <a:ln w="12700">
            <a:solidFill>
              <a:srgbClr val="FF9D2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52360" y="405993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D2E"/>
                </a:solidFill>
              </a:rPr>
              <a:t>动作边界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77072" y="40325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AFF"/>
                </a:solidFill>
              </a:rPr>
              <a:t>生产部署、配置写入、回退必须审批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23760" y="4919472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52360" y="50840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审计边界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77072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AFF"/>
                </a:solidFill>
              </a:rPr>
              <a:t>记录调用链、证据、审批人和执行结果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09 / IMPLEMENTATION OPTIONS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技术实现建议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优先复用现有Microsoft 365与数据平台，复杂编排再采用代码框架。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前端入口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191109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Teams / Web / Power Apps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191109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面向运维、开发、管理与支持人员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103B5B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816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C7E9"/>
                </a:solidFill>
              </a:rPr>
              <a:t>Agent层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807208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Copilot Studio + 总控/子Agent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28072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适合M365知识、连接器与低代码维护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547872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7124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复杂编排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3703320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Microsoft Agent Framework 或 LangGraph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370332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适合Python/.NET、状态机、并行和人工介入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443984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6085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流程执行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4599432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Power Automate / Azure DevOps / GitHub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459943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审批、通知、测试、发布与回写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340096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5046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AFF"/>
                </a:solidFill>
              </a:rPr>
              <a:t>数据与分析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40280" y="5495544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AFF"/>
                </a:solidFill>
              </a:rPr>
              <a:t>SharePoint + Databricks + Power BI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549554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台账、湖仓、KPI和趋势洞察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626364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2E"/>
                </a:solidFill>
              </a:rPr>
              <a:t>建议路径：Copilot Studio快速验证业务价值；服务化Agent承担日志解析、模型调用和复杂状态编排。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10 /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分阶段实施路线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先证明“找得到、看得懂”，再打通“建单、版本、测试、发布”，最后形成预测与优化。</a:t>
            </a:r>
            <a:endParaRPr lang="en-US" sz="1200" dirty="0"/>
          </a:p>
        </p:txBody>
      </p:sp>
      <p:pic>
        <p:nvPicPr>
          <p:cNvPr id="5" name="Image 0" descr="/mnt/data/tmp_agentdeck/generated_image_EFDF4AD7A566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68" y="1755648"/>
            <a:ext cx="6748272" cy="4498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3276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D2E"/>
                </a:solidFill>
              </a:rPr>
              <a:t>阶段门：每阶段以黄金测试集、业务KPI、安全评审和用户验收作为进入下一阶段的条件。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C7E9"/>
                </a:solidFill>
              </a:rPr>
              <a:t>11 / SUCCESS CRITERIA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</a:rPr>
              <a:t>试点评估指标与交付物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C"/>
                </a:solidFill>
              </a:rPr>
              <a:t>首期聚焦知识检索与日志诊断，用可量化方式验证Agent是否真正帮助运维。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7E9"/>
                </a:solidFill>
              </a:rPr>
              <a:t>业务效果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947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AFF"/>
                </a:solidFill>
              </a:rPr>
              <a:t>平均定位时间、一次解决率、重复问题识别率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83096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7E9"/>
                </a:solidFill>
              </a:rPr>
              <a:t>答案质量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1947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AFF"/>
                </a:solidFill>
              </a:rPr>
              <a:t>引用完整性、建议可执行性、误判与拒答情况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94360" y="3081528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7E9"/>
                </a:solidFill>
              </a:rPr>
              <a:t>流程质量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3246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AFF"/>
                </a:solidFill>
              </a:rPr>
              <a:t>自动建单成功率、审批正确率、回写完整性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63640" y="3081528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83096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7E9"/>
                </a:solidFill>
              </a:rPr>
              <a:t>安全质量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3246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AFF"/>
                </a:solidFill>
              </a:rPr>
              <a:t>越权调用次数、高风险动作拦截率、审计完整性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94360" y="4379976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" y="4562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7E9"/>
                </a:solidFill>
              </a:rPr>
              <a:t>平台质量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5445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AFF"/>
                </a:solidFill>
              </a:rPr>
              <a:t>响应时间、工具调用成功率、失败恢复能力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263640" y="4379976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0D2746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83096" y="4562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7E9"/>
                </a:solidFill>
              </a:rPr>
              <a:t>采用情况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45445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5FAFF"/>
                </a:solidFill>
              </a:rPr>
              <a:t>活跃用户、使用场景、人工节省步骤、满意度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31520" y="5806440"/>
            <a:ext cx="10698480" cy="530352"/>
          </a:xfrm>
          <a:prstGeom prst="roundRect">
            <a:avLst>
              <a:gd name="adj" fmla="val 20690"/>
            </a:avLst>
          </a:prstGeom>
          <a:solidFill>
            <a:srgbClr val="14324B">
              <a:alpha val="96000"/>
            </a:srgbClr>
          </a:solidFill>
          <a:ln w="12700">
            <a:solidFill>
              <a:srgbClr val="31557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5952744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D2E"/>
                </a:solidFill>
              </a:rPr>
              <a:t>首期交付：总控Agent + Knowledge Agent + Log Agent + 20–30条黄金测试问题 + 权限/审批矩阵 + 使用与质量看板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86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Renesas Electronics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数字化运维平台AI Agent总体架构</dc:title>
  <dc:subject>数字化运维平台AI Agent总体架构</dc:subject>
  <dc:creator>huibo wu</dc:creator>
  <lastModifiedBy>huibo wu</lastModifiedBy>
  <revision>1</revision>
  <dcterms:created xsi:type="dcterms:W3CDTF">2026-09-23T08:01:09.5431646Z</dcterms:created>
  <dcterms:modified xsi:type="dcterms:W3CDTF">2026-09-23T08:01:09.5431646Z</dcterms:modified>
</coreProperties>
</file>