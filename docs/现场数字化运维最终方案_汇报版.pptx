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&lt;File&gt;ET工作台方案_Version2.md&lt;/File&gt;: 设备识别、软件下载、配置更新、健康检测、日志采集、权限与生产保护需求。
- &lt;File&gt;现场设备与系统运维数字化平台_开发参考方案.md&lt;/File&gt;: Forms、SharePoint、Power Automate、Teams、Databricks、Power BI、问题/版本/测试/发布闭环。
- &lt;File&gt;现场数字化运维-总结版.pptx&lt;/File&gt;: 现场执行与运维平台整合、统一主键与管理驾驶舱结构。
- &lt;File&gt;ET数字化运维_IT权限与接口确认清单.xlsx&lt;/File&gt;: 28 项 IT 权限与接口、8 项优先确认事项。
- Visual on this slide was generated with Microsoft Copilot.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5379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RENESAS CONFIDENTIAL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8641080" y="651052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A84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现场数字化运维最终方案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oai/share/915ba379f1.png"/>
          <p:cNvPicPr>
            <a:picLocks noChangeAspect="1"/>
          </p:cNvPicPr>
          <p:nvPr/>
        </p:nvPicPr>
        <p:blipFill>
          <a:blip r:embed="rId1"/>
          <a:srcRect l="0" t="7811" r="0" b="781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5">
              <a:alpha val="72000"/>
            </a:srgbClr>
          </a:solidFill>
          <a:ln w="12700">
            <a:solidFill>
              <a:srgbClr val="071525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309360" cy="6858000"/>
          </a:xfrm>
          <a:prstGeom prst="rect">
            <a:avLst/>
          </a:prstGeom>
          <a:solidFill>
            <a:srgbClr val="071525">
              <a:alpha val="92000"/>
            </a:srgbClr>
          </a:solidFill>
          <a:ln w="12700">
            <a:solidFill>
              <a:srgbClr val="071525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21792" y="10515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</a:rPr>
              <a:t>现场数字化运维最终方案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658368" y="18745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E9F8"/>
                </a:solidFill>
              </a:rPr>
              <a:t>PowerShell ET 工作台 + 文件共享 + Microsoft 365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D9E9F8"/>
                </a:solidFill>
              </a:rPr>
              <a:t>+ Databricks + Power BI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58368" y="2944368"/>
            <a:ext cx="4434840" cy="0"/>
          </a:xfrm>
          <a:prstGeom prst="line">
            <a:avLst/>
          </a:prstGeom>
          <a:noFill/>
          <a:ln w="38100">
            <a:solidFill>
              <a:srgbClr val="D7192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3246120"/>
            <a:ext cx="1508760" cy="310896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不新增服务器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304288" y="3246120"/>
            <a:ext cx="1691640" cy="310896"/>
          </a:xfrm>
          <a:prstGeom prst="rect">
            <a:avLst/>
          </a:prstGeom>
          <a:solidFill>
            <a:srgbClr val="1261A0"/>
          </a:solidFill>
          <a:ln>
            <a:solidFill>
              <a:srgbClr val="1261A0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ET 无 O365 账号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33088" y="3246120"/>
            <a:ext cx="1417320" cy="310896"/>
          </a:xfrm>
          <a:prstGeom prst="rect">
            <a:avLst/>
          </a:prstGeom>
          <a:solidFill>
            <a:srgbClr val="00A3A3"/>
          </a:solidFill>
          <a:ln>
            <a:solidFill>
              <a:srgbClr val="00A3A3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复用现有平台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5358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技术方案评审 / 汇报版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58368" y="57241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7DEE8"/>
                </a:solidFill>
              </a:rPr>
              <a:t>生产技术部  装置管理一科  武会波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ma14="http://schemas.microsoft.com/office/mac/drawingml/2011/main"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D71920"/>
                </a:solidFill>
              </a:rPr>
              <a:t>01  WHY CHANGE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</a:rPr>
              <a:t>为什么重新设计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21208" y="105156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676"/>
                </a:solidFill>
              </a:rPr>
              <a:t>保留业务能力，替换高维护成本技术组件，并适配 ET 无 Microsoft 365 账号的现场条件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1572768"/>
            <a:ext cx="2743200" cy="36118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30352" y="1572768"/>
            <a:ext cx="73152" cy="361188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737360"/>
            <a:ext cx="384048" cy="384048"/>
          </a:xfrm>
          <a:prstGeom prst="ellipse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16152" y="17373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旧实现复杂度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2331720" cy="2852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C# / WPF / MVVM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Windows Service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SQLite / Named Pipe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潜在 API / 后台服务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部署、升级与权限链路较长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93008" y="1572768"/>
            <a:ext cx="2743200" cy="36118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93008" y="1572768"/>
            <a:ext cx="73152" cy="3611880"/>
          </a:xfrm>
          <a:prstGeom prst="rect">
            <a:avLst/>
          </a:prstGeom>
          <a:solidFill>
            <a:srgbClr val="E98B2A"/>
          </a:solidFill>
          <a:ln w="12700">
            <a:solidFill>
              <a:srgbClr val="E98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75888" y="1737360"/>
            <a:ext cx="384048" cy="384048"/>
          </a:xfrm>
          <a:prstGeom prst="ellipse">
            <a:avLst/>
          </a:prstGeom>
          <a:solidFill>
            <a:srgbClr val="E98B2A"/>
          </a:solidFill>
          <a:ln>
            <a:solidFill>
              <a:srgbClr val="E98B2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78808" y="17373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现场硬约束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12464" y="2157984"/>
            <a:ext cx="2331720" cy="2852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ET 无 M365 账号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当前主通道是 SMB 文件共享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生产软件需要持续运行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优先使用 Windows 原生能力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不新增服务器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55664" y="1572768"/>
            <a:ext cx="2468880" cy="3611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55664" y="1572768"/>
            <a:ext cx="73152" cy="3611880"/>
          </a:xfrm>
          <a:prstGeom prst="rect">
            <a:avLst/>
          </a:prstGeom>
          <a:solidFill>
            <a:srgbClr val="1261A0"/>
          </a:solidFill>
          <a:ln w="12700">
            <a:solidFill>
              <a:srgbClr val="1261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8544" y="1737360"/>
            <a:ext cx="384048" cy="384048"/>
          </a:xfrm>
          <a:prstGeom prst="ellipse">
            <a:avLst/>
          </a:prstGeom>
          <a:solidFill>
            <a:srgbClr val="1261A0"/>
          </a:solidFill>
          <a:ln>
            <a:solidFill>
              <a:srgbClr val="1261A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141464" y="1737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新技术方向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0" y="2157984"/>
            <a:ext cx="2057400" cy="2852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PowerShell + XAML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Task Scheduler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ProgramData 本地状态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SMB/UNC 受控交换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M365 + Databricks + Power BI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44000" y="1572768"/>
            <a:ext cx="2487168" cy="36118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0" y="1572768"/>
            <a:ext cx="73152" cy="3611880"/>
          </a:xfrm>
          <a:prstGeom prst="rect">
            <a:avLst/>
          </a:prstGeom>
          <a:solidFill>
            <a:srgbClr val="00A3A3"/>
          </a:solidFill>
          <a:ln w="12700">
            <a:solidFill>
              <a:srgbClr val="00A3A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0" y="1737360"/>
            <a:ext cx="384048" cy="384048"/>
          </a:xfrm>
          <a:prstGeom prst="ellipse">
            <a:avLst/>
          </a:prstGeom>
          <a:solidFill>
            <a:srgbClr val="00A3A3"/>
          </a:solidFill>
          <a:ln>
            <a:solidFill>
              <a:srgbClr val="00A3A3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829800" y="1737360"/>
            <a:ext cx="161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保持不变的能力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63456" y="2157984"/>
            <a:ext cx="2075688" cy="2852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设备/工程识别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软件入口与下载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配置预览与回退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健康检测与日志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问题、测试、版本、发布闭环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60120" y="5614416"/>
            <a:ext cx="10241280" cy="530352"/>
          </a:xfrm>
          <a:prstGeom prst="rect">
            <a:avLst/>
          </a:prstGeom>
          <a:solidFill>
            <a:srgbClr val="E7EEF7"/>
          </a:solidFill>
          <a:ln>
            <a:solidFill>
              <a:srgbClr val="C9D6E4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A"/>
                </a:solidFill>
              </a:rPr>
              <a:t>核心转变：从“建设自有基础设施”转向“现场自动化 + 公司平台治理”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ma14="http://schemas.microsoft.com/office/mac/drawingml/2011/main"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D71920"/>
                </a:solidFill>
              </a:rPr>
              <a:t>02  TARGET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</a:rPr>
              <a:t>最终总体架构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21208" y="105156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676"/>
                </a:solidFill>
              </a:rPr>
              <a:t>五层架构、两条数据通道、一个统一分析面</a:t>
            </a:r>
            <a:endParaRPr lang="en-US" sz="1100" dirty="0"/>
          </a:p>
        </p:txBody>
      </p:sp>
      <p:pic>
        <p:nvPicPr>
          <p:cNvPr id="5" name="Image 0" descr="/home/oai/share/bcabacb95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2294" y="1353312"/>
            <a:ext cx="7475220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ma14="http://schemas.microsoft.com/office/mac/drawingml/2011/main"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D71920"/>
                </a:solidFill>
              </a:rPr>
              <a:t>03  DEV 1｜ET WORKBENCH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</a:rPr>
              <a:t>PowerShell ET 工作台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21208" y="105156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676"/>
                </a:solidFill>
              </a:rPr>
              <a:t>GUI 负责交互，Task Scheduler 负责后台；本地状态落入 ProgramData</a:t>
            </a:r>
            <a:endParaRPr lang="en-US" sz="1100" dirty="0"/>
          </a:p>
        </p:txBody>
      </p:sp>
      <p:pic>
        <p:nvPicPr>
          <p:cNvPr id="5" name="Image 0" descr="/home/oai/share/498d245283.png"/>
          <p:cNvPicPr>
            <a:picLocks noChangeAspect="1"/>
          </p:cNvPicPr>
          <p:nvPr/>
        </p:nvPicPr>
        <p:blipFill>
          <a:blip r:embed="rId1"/>
          <a:srcRect l="13076" t="0" r="13076" b="0"/>
          <a:stretch/>
        </p:blipFill>
        <p:spPr>
          <a:xfrm>
            <a:off x="502920" y="1389888"/>
            <a:ext cx="4983480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42432" y="1417320"/>
            <a:ext cx="2633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42432" y="1417320"/>
            <a:ext cx="73152" cy="1097280"/>
          </a:xfrm>
          <a:prstGeom prst="rect">
            <a:avLst/>
          </a:prstGeom>
          <a:solidFill>
            <a:srgbClr val="1261A0"/>
          </a:solidFill>
          <a:ln w="12700">
            <a:solidFill>
              <a:srgbClr val="1261A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61888" y="158191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设备识别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961888" y="2002536"/>
            <a:ext cx="2221992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SN / IP → Equipment / Project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622792" y="1417320"/>
            <a:ext cx="2633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22792" y="1417320"/>
            <a:ext cx="73152" cy="1097280"/>
          </a:xfrm>
          <a:prstGeom prst="rect">
            <a:avLst/>
          </a:prstGeom>
          <a:solidFill>
            <a:srgbClr val="1261A0"/>
          </a:solidFill>
          <a:ln w="12700">
            <a:solidFill>
              <a:srgbClr val="1261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42248" y="158191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软件管理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842248" y="2002536"/>
            <a:ext cx="2221992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入口、版本、下载、Hash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742432" y="2770632"/>
            <a:ext cx="2633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742432" y="2770632"/>
            <a:ext cx="73152" cy="1097280"/>
          </a:xfrm>
          <a:prstGeom prst="rect">
            <a:avLst/>
          </a:prstGeom>
          <a:solidFill>
            <a:srgbClr val="00A3A3"/>
          </a:solidFill>
          <a:ln w="12700">
            <a:solidFill>
              <a:srgbClr val="00A3A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61888" y="2935224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配置管理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961888" y="3355848"/>
            <a:ext cx="2221992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预览、备份、验证、恢复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622792" y="2770632"/>
            <a:ext cx="2633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622792" y="2770632"/>
            <a:ext cx="73152" cy="1097280"/>
          </a:xfrm>
          <a:prstGeom prst="rect">
            <a:avLst/>
          </a:prstGeom>
          <a:solidFill>
            <a:srgbClr val="00A3A3"/>
          </a:solidFill>
          <a:ln w="12700">
            <a:solidFill>
              <a:srgbClr val="00A3A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42248" y="2935224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健康检测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842248" y="3355848"/>
            <a:ext cx="2221992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CPU / 内存 / 磁盘 / 网络 / 服务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742432" y="4123944"/>
            <a:ext cx="2633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742432" y="4123944"/>
            <a:ext cx="73152" cy="109728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61888" y="4288536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日志取证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961888" y="4709160"/>
            <a:ext cx="2221992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Manifest / Event Log / 应用日志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622792" y="4123944"/>
            <a:ext cx="2633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8622792" y="4123944"/>
            <a:ext cx="73152" cy="109728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842248" y="4288536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离线优先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8842248" y="4709160"/>
            <a:ext cx="2221992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Snapshot / Outbox / 重试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742432" y="5623560"/>
            <a:ext cx="2514600" cy="347472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PowerShell + WPF/XAML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8458200" y="5623560"/>
            <a:ext cx="1417320" cy="347472"/>
          </a:xfrm>
          <a:prstGeom prst="rect">
            <a:avLst/>
          </a:prstGeom>
          <a:solidFill>
            <a:srgbClr val="1261A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Task Scheduler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076688" y="5623560"/>
            <a:ext cx="1234440" cy="347472"/>
          </a:xfrm>
          <a:prstGeom prst="rect">
            <a:avLst/>
          </a:prstGeom>
          <a:solidFill>
            <a:srgbClr val="00A3A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ProgramData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ma14="http://schemas.microsoft.com/office/mac/drawingml/2011/main"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D71920"/>
                </a:solidFill>
              </a:rPr>
              <a:t>04  CONTROLLED EXCHANGE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</a:rPr>
              <a:t>文件共享交换层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21208" y="105156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676"/>
                </a:solidFill>
              </a:rPr>
              <a:t>ET 不需要 O365 账号；使用现有 SMB/UNC 作为受控设备交换通道</a:t>
            </a:r>
            <a:endParaRPr lang="en-US" sz="1100" dirty="0"/>
          </a:p>
        </p:txBody>
      </p:sp>
      <p:pic>
        <p:nvPicPr>
          <p:cNvPr id="5" name="Image 0" descr="/home/oai/share/696cfceb8f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0864" y="1325880"/>
            <a:ext cx="7516368" cy="5010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ma14="http://schemas.microsoft.com/office/mac/drawingml/2011/main"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D71920"/>
                </a:solidFill>
              </a:rPr>
              <a:t>05  DEV 2｜M365 PLATFORM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</a:rPr>
              <a:t>Microsoft 365 运维管理平台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21208" y="105156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676"/>
                </a:solidFill>
              </a:rPr>
              <a:t>面向人员承载问题、版本、测试、发布、审批、协同与证据管理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60020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600200"/>
            <a:ext cx="73152" cy="2240280"/>
          </a:xfrm>
          <a:prstGeom prst="rect">
            <a:avLst/>
          </a:prstGeom>
          <a:solidFill>
            <a:srgbClr val="1261A0"/>
          </a:solidFill>
          <a:ln w="12700">
            <a:solidFill>
              <a:srgbClr val="1261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64792"/>
            <a:ext cx="384048" cy="384048"/>
          </a:xfrm>
          <a:prstGeom prst="ellipse">
            <a:avLst/>
          </a:prstGeom>
          <a:solidFill>
            <a:srgbClr val="1261A0"/>
          </a:solidFill>
          <a:ln>
            <a:solidFill>
              <a:srgbClr val="1261A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7647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Forms / Power Apps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13816" y="2185416"/>
            <a:ext cx="1600200" cy="1481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问题入口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运维管理入口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33472" y="2450592"/>
            <a:ext cx="274320" cy="502920"/>
          </a:xfrm>
          <a:prstGeom prst="chevron">
            <a:avLst/>
          </a:prstGeom>
          <a:solidFill>
            <a:srgbClr val="BBC8D7"/>
          </a:solidFill>
          <a:ln w="12700">
            <a:solidFill>
              <a:srgbClr val="BBC8D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98648" y="160020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98648" y="1600200"/>
            <a:ext cx="73152" cy="2240280"/>
          </a:xfrm>
          <a:prstGeom prst="rect">
            <a:avLst/>
          </a:prstGeom>
          <a:solidFill>
            <a:srgbClr val="00A3A3"/>
          </a:solidFill>
          <a:ln w="12700">
            <a:solidFill>
              <a:srgbClr val="00A3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81528" y="1764792"/>
            <a:ext cx="384048" cy="384048"/>
          </a:xfrm>
          <a:prstGeom prst="ellipse">
            <a:avLst/>
          </a:prstGeom>
          <a:solidFill>
            <a:srgbClr val="00A3A3"/>
          </a:solidFill>
          <a:ln>
            <a:solidFill>
              <a:srgbClr val="00A3A3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84448" y="17647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SharePoint Lists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18104" y="2185416"/>
            <a:ext cx="1600200" cy="1481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设备 / 应用 / Issue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Version / Test / Release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937760" y="2450592"/>
            <a:ext cx="274320" cy="502920"/>
          </a:xfrm>
          <a:prstGeom prst="chevron">
            <a:avLst/>
          </a:prstGeom>
          <a:solidFill>
            <a:srgbClr val="BBC8D7"/>
          </a:solidFill>
          <a:ln w="12700">
            <a:solidFill>
              <a:srgbClr val="BBC8D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02936" y="160020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02936" y="1600200"/>
            <a:ext cx="73152" cy="2240280"/>
          </a:xfrm>
          <a:prstGeom prst="rect">
            <a:avLst/>
          </a:prstGeom>
          <a:solidFill>
            <a:srgbClr val="218C74"/>
          </a:solidFill>
          <a:ln w="12700">
            <a:solidFill>
              <a:srgbClr val="218C7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85816" y="1764792"/>
            <a:ext cx="384048" cy="384048"/>
          </a:xfrm>
          <a:prstGeom prst="ellipse">
            <a:avLst/>
          </a:prstGeom>
          <a:solidFill>
            <a:srgbClr val="218C74"/>
          </a:solidFill>
          <a:ln>
            <a:solidFill>
              <a:srgbClr val="218C7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888736" y="17647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文档库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22392" y="2185416"/>
            <a:ext cx="1600200" cy="1481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图片 / 测试证据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发布资料 / 手册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242048" y="2450592"/>
            <a:ext cx="274320" cy="502920"/>
          </a:xfrm>
          <a:prstGeom prst="chevron">
            <a:avLst/>
          </a:prstGeom>
          <a:solidFill>
            <a:srgbClr val="BBC8D7"/>
          </a:solidFill>
          <a:ln w="12700">
            <a:solidFill>
              <a:srgbClr val="BBC8D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07224" y="160020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507224" y="1600200"/>
            <a:ext cx="73152" cy="2240280"/>
          </a:xfrm>
          <a:prstGeom prst="rect">
            <a:avLst/>
          </a:prstGeom>
          <a:solidFill>
            <a:srgbClr val="E98B2A"/>
          </a:solidFill>
          <a:ln w="12700">
            <a:solidFill>
              <a:srgbClr val="E98B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90104" y="1764792"/>
            <a:ext cx="384048" cy="384048"/>
          </a:xfrm>
          <a:prstGeom prst="ellipse">
            <a:avLst/>
          </a:prstGeom>
          <a:solidFill>
            <a:srgbClr val="E98B2A"/>
          </a:solidFill>
          <a:ln>
            <a:solidFill>
              <a:srgbClr val="E98B2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193024" y="17647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Power Automate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726680" y="2185416"/>
            <a:ext cx="1600200" cy="1481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编号 / 分派 / 审批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通知 / SLA / 关闭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46336" y="2450592"/>
            <a:ext cx="274320" cy="502920"/>
          </a:xfrm>
          <a:prstGeom prst="chevron">
            <a:avLst/>
          </a:prstGeom>
          <a:solidFill>
            <a:srgbClr val="BBC8D7"/>
          </a:solidFill>
          <a:ln w="12700">
            <a:solidFill>
              <a:srgbClr val="BBC8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11512" y="160020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811512" y="1600200"/>
            <a:ext cx="73152" cy="224028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94392" y="1764792"/>
            <a:ext cx="384048" cy="384048"/>
          </a:xfrm>
          <a:prstGeom prst="ellipse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497312" y="17647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Teams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0030968" y="2185416"/>
            <a:ext cx="1600200" cy="1481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问题卡片 / 讨论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Approval / 回链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4360" y="4251960"/>
            <a:ext cx="1874520" cy="365760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正式记录原则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651760" y="4233672"/>
            <a:ext cx="890625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</a:rPr>
              <a:t>Teams 用于协同与通知；负责人、状态、版本、测试证据、发布与关闭结论必须回写 SharePoint。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94360" y="4965192"/>
            <a:ext cx="10972800" cy="841248"/>
          </a:xfrm>
          <a:prstGeom prst="roundRect">
            <a:avLst/>
          </a:prstGeom>
          <a:solidFill>
            <a:srgbClr val="EAF0F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520293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71920"/>
                </a:solidFill>
              </a:rPr>
              <a:t>统一主键贯通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31720" y="5138928"/>
            <a:ext cx="88239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1F3A"/>
                </a:solidFill>
              </a:rPr>
              <a:t>Equipment ID → Project ID → Application ID → Issue ID → Version → Release ID → Deployment ID → Log Package ID → Event ID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ma14="http://schemas.microsoft.com/office/mac/drawingml/2011/main"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D71920"/>
                </a:solidFill>
              </a:rPr>
              <a:t>06  END-TO-END LOOP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</a:rPr>
              <a:t>端到端业务闭环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21208" y="105156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676"/>
                </a:solidFill>
              </a:rPr>
              <a:t>从现场异常到知识沉淀，每一步都绑定设备、应用、版本和发布标识</a:t>
            </a:r>
            <a:endParaRPr lang="en-US" sz="1100" dirty="0"/>
          </a:p>
        </p:txBody>
      </p:sp>
      <p:pic>
        <p:nvPicPr>
          <p:cNvPr id="5" name="Image 0" descr="/home/oai/share/ad44fd847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2858" y="1298448"/>
            <a:ext cx="7612380" cy="5074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ma14="http://schemas.microsoft.com/office/mac/drawingml/2011/main"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D71920"/>
                </a:solidFill>
              </a:rPr>
              <a:t>07  DATA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</a:rPr>
              <a:t>两路数据汇聚到 Databricks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21208" y="105156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676"/>
                </a:solidFill>
              </a:rPr>
              <a:t>设备自动数据与 Microsoft 365 业务数据在 Bronze/Silver/Gold 统一治理</a:t>
            </a:r>
            <a:endParaRPr lang="en-US" sz="1100" dirty="0"/>
          </a:p>
        </p:txBody>
      </p:sp>
      <p:pic>
        <p:nvPicPr>
          <p:cNvPr id="5" name="Image 0" descr="/home/oai/share/8551d9bd9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9716" y="1307592"/>
            <a:ext cx="7598664" cy="506577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ma14="http://schemas.microsoft.com/office/mac/drawingml/2011/main"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D71920"/>
                </a:solidFill>
              </a:rPr>
              <a:t>08  SECURITY &amp; 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</a:rPr>
              <a:t>安全边界与 IT 确认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21208" y="105156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676"/>
                </a:solidFill>
              </a:rPr>
              <a:t>当前方案不依赖 Graph、OneDrive 或 ET 的 Microsoft 365 账号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444752"/>
            <a:ext cx="73152" cy="4343400"/>
          </a:xfrm>
          <a:prstGeom prst="rect">
            <a:avLst/>
          </a:prstGeom>
          <a:solidFill>
            <a:srgbClr val="218C74"/>
          </a:solidFill>
          <a:ln w="12700">
            <a:solidFill>
              <a:srgbClr val="218C7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60934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ET 明确不需要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029968"/>
            <a:ext cx="2331720" cy="3584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Microsoft 365 账号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OneDrive 登录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Graph Token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Databricks Token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SharePoint 密码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HTTP/API 服务端口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47872" y="1444752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444752"/>
            <a:ext cx="73152" cy="4343400"/>
          </a:xfrm>
          <a:prstGeom prst="rect">
            <a:avLst/>
          </a:prstGeom>
          <a:solidFill>
            <a:srgbClr val="1261A0"/>
          </a:solidFill>
          <a:ln w="12700">
            <a:solidFill>
              <a:srgbClr val="1261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67328" y="160934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ET 必要权限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67328" y="2029968"/>
            <a:ext cx="2331720" cy="3584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PowerShell 执行策略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脚本签名/证书策略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Task Scheduler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ProgramData ACL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CIM/WMI/Event Log Read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指定 SMB 目录权限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28816" y="1444752"/>
            <a:ext cx="2487168" cy="43434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28816" y="1444752"/>
            <a:ext cx="73152" cy="4343400"/>
          </a:xfrm>
          <a:prstGeom prst="rect">
            <a:avLst/>
          </a:prstGeom>
          <a:solidFill>
            <a:srgbClr val="00A3A3"/>
          </a:solidFill>
          <a:ln w="12700">
            <a:solidFill>
              <a:srgbClr val="00A3A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48272" y="1609344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平台确认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748272" y="2029968"/>
            <a:ext cx="2075688" cy="3584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SharePoint Site/Lists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Forms/Connectors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Power Automate Owner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Teams/Approvals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M365 许可与治理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53728" y="1444752"/>
            <a:ext cx="2359152" cy="4343400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53728" y="1444752"/>
            <a:ext cx="73152" cy="43434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73184" y="1609344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数据确认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473184" y="2029968"/>
            <a:ext cx="1947672" cy="3584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SMB → MDP ingestion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SharePoint ingestion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DEV/QAS/PRD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Unity Catalog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Power BI Workspace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SQL Warehouse / Refresh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0" y="5961888"/>
            <a:ext cx="6675120" cy="310896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详细项：IT-01 ～ IT-28 ｜ 首次评审优先确认 8 项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ma14="http://schemas.microsoft.com/office/mac/drawingml/2011/main"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D71920"/>
                </a:solidFill>
              </a:rPr>
              <a:t>09  DELIVERY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</a:rPr>
              <a:t>实施阶段与 MVP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21208" y="105156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676"/>
                </a:solidFill>
              </a:rPr>
              <a:t>先验证设备识别、离线交换和 Issue 闭环，再扩展版本发布与数据驾驶舱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578608" cy="404164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333333"/>
            </a:solidFill>
            <a:prstDash val="solid"/>
          </a:ln>
          <a:effectLst>
            <a:outerShdw blurRad="16510" dist="6350" dir="2700000" sx="100000" sy="100000" kx="0" ky="0" algn="bl" rotWithShape="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83080"/>
            <a:ext cx="914400" cy="347472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8096" y="2304288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A"/>
                </a:solidFill>
              </a:rPr>
              <a:t>ET + Issue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2880360"/>
            <a:ext cx="1938528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50" dirty="0">
                <a:solidFill>
                  <a:srgbClr val="172234"/>
                </a:solidFill>
              </a:rPr>
              <a:t>设备识别 / 软件入口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健康检测 / 日志包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Snapshot / Outbox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SMB 目录与权限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Forms / Issue / Teams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27832" y="3246120"/>
            <a:ext cx="256032" cy="566928"/>
          </a:xfrm>
          <a:prstGeom prst="chevron">
            <a:avLst/>
          </a:prstGeom>
          <a:solidFill>
            <a:srgbClr val="9FB0C4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56432" y="1572768"/>
            <a:ext cx="2578608" cy="404164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333333"/>
            </a:solidFill>
            <a:prstDash val="solid"/>
          </a:ln>
          <a:effectLst>
            <a:outerShdw blurRad="16510" dist="6350" dir="2700000" sx="100000" sy="100000" kx="0" ky="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39312" y="1783080"/>
            <a:ext cx="914400" cy="347472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0" y="2304288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A"/>
                </a:solidFill>
              </a:rPr>
              <a:t>Version + Release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76472" y="2880360"/>
            <a:ext cx="1938528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50" dirty="0">
                <a:solidFill>
                  <a:srgbClr val="172234"/>
                </a:solidFill>
              </a:rPr>
              <a:t>Version Registry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TEST / UAT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Release Approval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一键下载 / 配置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Deployment / Rollback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17336" y="3246120"/>
            <a:ext cx="256032" cy="566928"/>
          </a:xfrm>
          <a:prstGeom prst="chevron">
            <a:avLst/>
          </a:prstGeom>
          <a:solidFill>
            <a:srgbClr val="9FB0C4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45936" y="1572768"/>
            <a:ext cx="2578608" cy="404164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333333"/>
            </a:solidFill>
            <a:prstDash val="solid"/>
          </a:ln>
          <a:effectLst>
            <a:outerShdw blurRad="16510" dist="6350" dir="2700000" sx="100000" sy="100000" kx="0" ky="0" algn="bl" rotWithShape="0">
              <a:srgbClr val="000000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28816" y="1783080"/>
            <a:ext cx="914400" cy="347472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47104" y="2304288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A"/>
                </a:solidFill>
              </a:rPr>
              <a:t>Data + BI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65976" y="2880360"/>
            <a:ext cx="1938528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50" dirty="0">
                <a:solidFill>
                  <a:srgbClr val="172234"/>
                </a:solidFill>
              </a:rPr>
              <a:t>SMB / SharePoint ingestion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Bronze / Silver / Gold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数据质量 / Unity Catalog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Power BI 六类页面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06840" y="3246120"/>
            <a:ext cx="256032" cy="566928"/>
          </a:xfrm>
          <a:prstGeom prst="chevron">
            <a:avLst/>
          </a:prstGeom>
          <a:solidFill>
            <a:srgbClr val="9FB0C4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1572768"/>
            <a:ext cx="2578608" cy="404164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333333"/>
            </a:solidFill>
            <a:prstDash val="solid"/>
          </a:ln>
          <a:effectLst>
            <a:outerShdw blurRad="16510" dist="6350" dir="2700000" sx="100000" sy="100000" kx="0" ky="0" algn="bl" rotWithShape="0">
              <a:srgbClr val="000000">
                <a:alpha val="9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418320" y="1783080"/>
            <a:ext cx="914400" cy="347472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436608" y="2304288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A"/>
                </a:solidFill>
              </a:rPr>
              <a:t>Knowledge + AI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555480" y="2880360"/>
            <a:ext cx="1938528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50" dirty="0">
                <a:solidFill>
                  <a:srgbClr val="172234"/>
                </a:solidFill>
              </a:rPr>
              <a:t>Knowledge Base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相似问题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日志模式分析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根因候选</a:t>
            </a:r>
            <a:endParaRPr lang="en-US" sz="1150" dirty="0"/>
          </a:p>
          <a:p>
            <a:r>
              <a:rPr lang="en-US" sz="1150" dirty="0">
                <a:solidFill>
                  <a:srgbClr val="172234"/>
                </a:solidFill>
              </a:rPr>
              <a:t>智能检索与总结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86384" y="5870448"/>
            <a:ext cx="10625328" cy="384048"/>
          </a:xfrm>
          <a:prstGeom prst="rect">
            <a:avLst/>
          </a:prstGeom>
          <a:solidFill>
            <a:srgbClr val="E8EEF5"/>
          </a:solidFill>
          <a:ln>
            <a:solidFill>
              <a:srgbClr val="CBD5E1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MVP 验收重点：识别不误授权｜下载包完整性｜配置可恢复｜运行软件不被干预｜断网可用｜事件不重复｜统一主键可追溯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ma14="http://schemas.microsoft.com/office/mac/drawingml/2011/main"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D71920"/>
                </a:solidFill>
              </a:rPr>
              <a:t>10  VALUE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</a:rPr>
              <a:t>新旧方案对比与价值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21208" y="105156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676"/>
                </a:solidFill>
              </a:rPr>
              <a:t>用更轻的终端技术完成同样的现场闭环，并将管理与分析能力放回企业平台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408176"/>
            <a:ext cx="2286000" cy="365760"/>
          </a:xfrm>
          <a:prstGeom prst="rect">
            <a:avLst/>
          </a:prstGeom>
          <a:solidFill>
            <a:srgbClr val="7B879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旧方案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50992" y="1408176"/>
            <a:ext cx="2834640" cy="365760"/>
          </a:xfrm>
          <a:prstGeom prst="rect">
            <a:avLst/>
          </a:prstGeom>
          <a:solidFill>
            <a:srgbClr val="1261A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最终方案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" y="1865376"/>
            <a:ext cx="1143000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ET 开发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783080" y="1865376"/>
            <a:ext cx="2286000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234"/>
                </a:solidFill>
              </a:rPr>
              <a:t>C# / .NET Framework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60520" y="1865376"/>
            <a:ext cx="438912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71920"/>
                </a:solidFill>
              </a:rPr>
              <a:t>→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709160" y="1865376"/>
            <a:ext cx="3776472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PowerShell 模块化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3504" y="2340864"/>
            <a:ext cx="1143000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GUI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83080" y="2340864"/>
            <a:ext cx="2286000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234"/>
                </a:solidFill>
              </a:rPr>
              <a:t>WPF / MVVM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60520" y="2340864"/>
            <a:ext cx="438912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71920"/>
                </a:solidFill>
              </a:rPr>
              <a:t>→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09160" y="2340864"/>
            <a:ext cx="3776472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PowerShell + WPF/XAML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03504" y="2816352"/>
            <a:ext cx="1143000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后台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83080" y="2816352"/>
            <a:ext cx="2286000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234"/>
                </a:solidFill>
              </a:rPr>
              <a:t>Windows Service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60520" y="2816352"/>
            <a:ext cx="438912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71920"/>
                </a:solidFill>
              </a:rPr>
              <a:t>→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09160" y="2816352"/>
            <a:ext cx="3776472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Task Scheduler 短任务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03504" y="3291840"/>
            <a:ext cx="1143000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本地状态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783080" y="3291840"/>
            <a:ext cx="2286000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234"/>
                </a:solidFill>
              </a:rPr>
              <a:t>SQLite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60520" y="3291840"/>
            <a:ext cx="438912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71920"/>
                </a:solidFill>
              </a:rPr>
              <a:t>→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709160" y="3291840"/>
            <a:ext cx="3776472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JSON / NDJSON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3504" y="3767328"/>
            <a:ext cx="1143000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数据交换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83080" y="3767328"/>
            <a:ext cx="2286000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234"/>
                </a:solidFill>
              </a:rPr>
              <a:t>SMB + 潜在 API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60520" y="3767328"/>
            <a:ext cx="438912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71920"/>
                </a:solidFill>
              </a:rPr>
              <a:t>→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709160" y="3767328"/>
            <a:ext cx="3776472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现有 SMB/UNC 主通道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03504" y="4242816"/>
            <a:ext cx="1143000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ET 身份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783080" y="4242816"/>
            <a:ext cx="2286000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234"/>
                </a:solidFill>
              </a:rPr>
              <a:t>未明确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60520" y="4242816"/>
            <a:ext cx="438912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71920"/>
                </a:solidFill>
              </a:rPr>
              <a:t>→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709160" y="4242816"/>
            <a:ext cx="3776472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无 O365 账号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03504" y="4718304"/>
            <a:ext cx="1143000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平台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783080" y="4718304"/>
            <a:ext cx="2286000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234"/>
                </a:solidFill>
              </a:rPr>
              <a:t>部分 M365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160520" y="4718304"/>
            <a:ext cx="438912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71920"/>
                </a:solidFill>
              </a:rPr>
              <a:t>→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4709160" y="4718304"/>
            <a:ext cx="3776472" cy="393192"/>
          </a:xfrm>
          <a:prstGeom prst="rect">
            <a:avLst/>
          </a:prstGeom>
          <a:solidFill>
            <a:srgbClr val="EAF0F7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M365 负责业务闭环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03504" y="5193792"/>
            <a:ext cx="1143000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服务器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783080" y="5193792"/>
            <a:ext cx="2286000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234"/>
                </a:solidFill>
              </a:rPr>
              <a:t>可能新增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160520" y="5193792"/>
            <a:ext cx="438912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71920"/>
                </a:solidFill>
              </a:rPr>
              <a:t>→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4709160" y="5193792"/>
            <a:ext cx="3776472" cy="393192"/>
          </a:xfrm>
          <a:prstGeom prst="rect">
            <a:avLst/>
          </a:prstGeom>
          <a:solidFill>
            <a:srgbClr val="F7F9FC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不新增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823960" y="1417320"/>
            <a:ext cx="2761488" cy="4270248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635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823960" y="1417320"/>
            <a:ext cx="73152" cy="427024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43416" y="158191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核心价值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9043416" y="2002536"/>
            <a:ext cx="2350008" cy="3511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50" dirty="0">
                <a:solidFill>
                  <a:srgbClr val="172234"/>
                </a:solidFill>
              </a:rPr>
              <a:t>开发门槛更低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部署与升级更轻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复用公司许可与治理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减少服务器维护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与 M365 / Databricks / Power BI 原生协同</a:t>
            </a:r>
            <a:endParaRPr lang="en-US" sz="1050" dirty="0"/>
          </a:p>
          <a:p>
            <a:r>
              <a:rPr lang="en-US" sz="1050" dirty="0">
                <a:solidFill>
                  <a:srgbClr val="172234"/>
                </a:solidFill>
              </a:rPr>
              <a:t>离线、审计和回退能力保留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84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oai/share/0afa96be49.png"/>
          <p:cNvPicPr>
            <a:picLocks noChangeAspect="1"/>
          </p:cNvPicPr>
          <p:nvPr/>
        </p:nvPicPr>
        <p:blipFill>
          <a:blip r:embed="rId1"/>
          <a:srcRect l="0" t="7811" r="0" b="781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5">
              <a:alpha val="70000"/>
            </a:srgbClr>
          </a:solidFill>
          <a:ln w="12700">
            <a:solidFill>
              <a:srgbClr val="071525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94360" y="658368"/>
            <a:ext cx="11000232" cy="5468112"/>
          </a:xfrm>
          <a:prstGeom prst="rect">
            <a:avLst/>
          </a:prstGeom>
          <a:solidFill>
            <a:srgbClr val="071525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9601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最终推荐架构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96112" y="1810512"/>
            <a:ext cx="406908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3FF"/>
                </a:solidFill>
              </a:rPr>
              <a:t>PowerShell 做现场执行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EAF3FF"/>
                </a:solidFill>
              </a:rPr>
              <a:t>文件共享做设备交换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EAF3FF"/>
                </a:solidFill>
              </a:rPr>
              <a:t>Microsoft 365 做业务管理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EAF3FF"/>
                </a:solidFill>
              </a:rPr>
              <a:t>Databricks 做数据汇聚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EAF3FF"/>
                </a:solidFill>
              </a:rPr>
              <a:t>Power BI 做分析洞察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896112" y="4736592"/>
            <a:ext cx="3840480" cy="0"/>
          </a:xfrm>
          <a:prstGeom prst="line">
            <a:avLst/>
          </a:prstGeom>
          <a:noFill/>
          <a:ln w="50800">
            <a:solidFill>
              <a:srgbClr val="D7192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504748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不新增服务器  ·  ET 无 O365 账号  ·  全流程可追溯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080760" y="5065776"/>
            <a:ext cx="4754880" cy="640080"/>
          </a:xfrm>
          <a:prstGeom prst="rect">
            <a:avLst/>
          </a:prstGeom>
          <a:solidFill>
            <a:srgbClr val="D71920">
              <a:alpha val="92000"/>
            </a:srgbClr>
          </a:solidFill>
          <a:ln>
            <a:solidFill>
              <a:srgbClr val="D71920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形成“现场执行—业务协同—数据治理—管理洞察”的统一闭环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Renesas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现场数字化运维最终方案_汇报版</dc:title>
  <dc:subject>现场数字化运维最终方案</dc:subject>
  <dc:creator>huibo wu</dc:creator>
  <cp:lastModifiedBy>huibo wu</cp:lastModifiedBy>
  <cp:revision>1</cp:revision>
  <dcterms:created xsi:type="dcterms:W3CDTF">2026-09-21T07:49:14Z</dcterms:created>
  <dcterms:modified xsi:type="dcterms:W3CDTF">2026-09-21T07:49:14Z</dcterms:modified>
</cp:coreProperties>
</file>